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840" r:id="rId3"/>
    <p:sldId id="831" r:id="rId4"/>
    <p:sldId id="834" r:id="rId5"/>
    <p:sldId id="836" r:id="rId6"/>
    <p:sldId id="837" r:id="rId7"/>
    <p:sldId id="838" r:id="rId8"/>
    <p:sldId id="839" r:id="rId9"/>
  </p:sldIdLst>
  <p:sldSz cx="12192000" cy="6858000"/>
  <p:notesSz cx="6858000" cy="9144000"/>
  <p:custDataLst>
    <p:tags r:id="rId1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295" userDrawn="1">
          <p15:clr>
            <a:srgbClr val="A4A3A4"/>
          </p15:clr>
        </p15:guide>
        <p15:guide id="2" pos="40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33C"/>
    <a:srgbClr val="3BC0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270" autoAdjust="0"/>
  </p:normalViewPr>
  <p:slideViewPr>
    <p:cSldViewPr snapToGrid="0" showGuides="1">
      <p:cViewPr varScale="1">
        <p:scale>
          <a:sx n="63" d="100"/>
          <a:sy n="63" d="100"/>
        </p:scale>
        <p:origin x="780" y="52"/>
      </p:cViewPr>
      <p:guideLst>
        <p:guide orient="horz" pos="2295"/>
        <p:guide pos="40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8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"/>
          <p:cNvSpPr/>
          <p:nvPr userDrawn="1"/>
        </p:nvSpPr>
        <p:spPr>
          <a:xfrm>
            <a:off x="0" y="508635"/>
            <a:ext cx="12192000" cy="548005"/>
          </a:xfrm>
          <a:prstGeom prst="rect">
            <a:avLst/>
          </a:prstGeom>
          <a:gradFill>
            <a:gsLst>
              <a:gs pos="0">
                <a:srgbClr val="0F233C"/>
              </a:gs>
              <a:gs pos="100000">
                <a:srgbClr val="3BC0BC"/>
              </a:gs>
            </a:gsLst>
            <a:lin ang="0" scaled="0"/>
          </a:gra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p>
            <a:pPr algn="ctr">
              <a:defRPr sz="3600">
                <a:solidFill>
                  <a:schemeClr val="accent3">
                    <a:lumOff val="4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sz="1800">
              <a:latin typeface="Open Sans" panose="020B0606030504020204" charset="0"/>
              <a:cs typeface="Open Sans" panose="020B060603050402020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978265" y="6352540"/>
            <a:ext cx="2954020" cy="240665"/>
            <a:chOff x="14139" y="10004"/>
            <a:chExt cx="4652" cy="379"/>
          </a:xfrm>
        </p:grpSpPr>
        <p:pic>
          <p:nvPicPr>
            <p:cNvPr id="9" name="Picture 8" descr="Logo no 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4139" y="10049"/>
              <a:ext cx="1165" cy="334"/>
            </a:xfrm>
            <a:prstGeom prst="rect">
              <a:avLst/>
            </a:prstGeom>
          </p:spPr>
        </p:pic>
        <p:pic>
          <p:nvPicPr>
            <p:cNvPr id="14" name="Picture 13" descr="SVV Slogan (Time To Get It Made)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3" y="10078"/>
              <a:ext cx="3108" cy="243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15478" y="10004"/>
              <a:ext cx="0" cy="376"/>
            </a:xfrm>
            <a:prstGeom prst="line">
              <a:avLst/>
            </a:prstGeom>
            <a:noFill/>
            <a:ln w="12700" cap="flat">
              <a:solidFill>
                <a:srgbClr val="3BC0BC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shot (103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-635"/>
            <a:ext cx="12192635" cy="6858635"/>
          </a:xfrm>
          <a:prstGeom prst="rect">
            <a:avLst/>
          </a:prstGeom>
        </p:spPr>
      </p:pic>
      <p:sp>
        <p:nvSpPr>
          <p:cNvPr id="8" name="Rectangles 7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100000"/>
                </a:srgbClr>
              </a:gs>
              <a:gs pos="100000">
                <a:srgbClr val="44C0BE">
                  <a:alpha val="80000"/>
                </a:srgbClr>
              </a:gs>
            </a:gsLst>
            <a:lin ang="4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4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D4A9878"/>
          <p:cNvPicPr>
            <a:picLocks noChangeAspect="1"/>
          </p:cNvPicPr>
          <p:nvPr userDrawn="1"/>
        </p:nvPicPr>
        <p:blipFill>
          <a:blip r:embed="rId2"/>
          <a:srcRect t="4875" b="10875"/>
          <a:stretch>
            <a:fillRect/>
          </a:stretch>
        </p:blipFill>
        <p:spPr>
          <a:xfrm>
            <a:off x="635" y="10160"/>
            <a:ext cx="12192000" cy="6847840"/>
          </a:xfrm>
          <a:prstGeom prst="rect">
            <a:avLst/>
          </a:prstGeom>
        </p:spPr>
      </p:pic>
      <p:sp>
        <p:nvSpPr>
          <p:cNvPr id="8" name="Rectangles 7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90000"/>
                </a:srgbClr>
              </a:gs>
              <a:gs pos="100000">
                <a:srgbClr val="44C0BE">
                  <a:alpha val="95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4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D4A9878"/>
          <p:cNvPicPr>
            <a:picLocks noChangeAspect="1"/>
          </p:cNvPicPr>
          <p:nvPr userDrawn="1"/>
        </p:nvPicPr>
        <p:blipFill>
          <a:blip r:embed="rId2"/>
          <a:srcRect l="17516" t="4875" r="38729" b="10875"/>
          <a:stretch>
            <a:fillRect/>
          </a:stretch>
        </p:blipFill>
        <p:spPr>
          <a:xfrm>
            <a:off x="6868795" y="10160"/>
            <a:ext cx="5334635" cy="6847840"/>
          </a:xfrm>
          <a:prstGeom prst="rect">
            <a:avLst/>
          </a:prstGeom>
        </p:spPr>
      </p:pic>
      <p:sp>
        <p:nvSpPr>
          <p:cNvPr id="8" name="Rectangles 7"/>
          <p:cNvSpPr/>
          <p:nvPr userDrawn="1"/>
        </p:nvSpPr>
        <p:spPr>
          <a:xfrm>
            <a:off x="6868795" y="-635"/>
            <a:ext cx="5323205" cy="6858635"/>
          </a:xfrm>
          <a:prstGeom prst="rect">
            <a:avLst/>
          </a:prstGeom>
          <a:gradFill>
            <a:gsLst>
              <a:gs pos="0">
                <a:srgbClr val="112942">
                  <a:alpha val="90000"/>
                </a:srgbClr>
              </a:gs>
              <a:gs pos="100000">
                <a:srgbClr val="44C0BE">
                  <a:alpha val="95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4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D4A9881"/>
          <p:cNvPicPr>
            <a:picLocks noChangeAspect="1"/>
          </p:cNvPicPr>
          <p:nvPr userDrawn="1"/>
        </p:nvPicPr>
        <p:blipFill>
          <a:blip r:embed="rId2"/>
          <a:srcRect t="3375" b="12562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9" name="Rectangles 8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90000"/>
                </a:srgbClr>
              </a:gs>
              <a:gs pos="100000">
                <a:srgbClr val="44C0BE">
                  <a:alpha val="95000"/>
                </a:srgbClr>
              </a:gs>
            </a:gsLst>
            <a:lin ang="157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1" name="Picture 10" descr="New Logo (White) -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2" name="Picture 11" descr="SVV Slogan (Time To Get It Made - White 2)"/>
            <p:cNvPicPr>
              <a:picLocks noChangeAspect="1"/>
            </p:cNvPicPr>
            <p:nvPr/>
          </p:nvPicPr>
          <p:blipFill>
            <a:blip r:embed="rId4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D4A8849"/>
          <p:cNvPicPr>
            <a:picLocks noChangeAspect="1"/>
          </p:cNvPicPr>
          <p:nvPr userDrawn="1"/>
        </p:nvPicPr>
        <p:blipFill>
          <a:blip r:embed="rId2"/>
          <a:srcRect t="5625" b="10500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11" name="Rectangles 10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100000"/>
                </a:srgbClr>
              </a:gs>
              <a:gs pos="100000">
                <a:srgbClr val="44C0BE">
                  <a:alpha val="80000"/>
                </a:srgbClr>
              </a:gs>
            </a:gsLst>
            <a:lin ang="91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3" name="Picture 12" descr="New Logo (White) -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4" name="Picture 13" descr="SVV Slogan (Time To Get It Made - White 2)"/>
            <p:cNvPicPr>
              <a:picLocks noChangeAspect="1"/>
            </p:cNvPicPr>
            <p:nvPr/>
          </p:nvPicPr>
          <p:blipFill>
            <a:blip r:embed="rId4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D4A8849"/>
          <p:cNvPicPr>
            <a:picLocks noChangeAspect="1"/>
          </p:cNvPicPr>
          <p:nvPr userDrawn="1"/>
        </p:nvPicPr>
        <p:blipFill>
          <a:blip r:embed="rId2"/>
          <a:srcRect l="27552" t="5625" r="30776" b="10500"/>
          <a:stretch>
            <a:fillRect/>
          </a:stretch>
        </p:blipFill>
        <p:spPr>
          <a:xfrm>
            <a:off x="635" y="-635"/>
            <a:ext cx="5080635" cy="6858000"/>
          </a:xfrm>
          <a:prstGeom prst="rect">
            <a:avLst/>
          </a:prstGeom>
        </p:spPr>
      </p:pic>
      <p:sp>
        <p:nvSpPr>
          <p:cNvPr id="11" name="Rectangles 10"/>
          <p:cNvSpPr/>
          <p:nvPr userDrawn="1"/>
        </p:nvSpPr>
        <p:spPr>
          <a:xfrm>
            <a:off x="635" y="-635"/>
            <a:ext cx="5080000" cy="6858635"/>
          </a:xfrm>
          <a:prstGeom prst="rect">
            <a:avLst/>
          </a:prstGeom>
          <a:gradFill>
            <a:gsLst>
              <a:gs pos="0">
                <a:srgbClr val="112942">
                  <a:alpha val="100000"/>
                </a:srgbClr>
              </a:gs>
              <a:gs pos="100000">
                <a:srgbClr val="44C0BE">
                  <a:alpha val="80000"/>
                </a:srgbClr>
              </a:gs>
            </a:gsLst>
            <a:lin ang="91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8978265" y="6352540"/>
            <a:ext cx="2954020" cy="240665"/>
            <a:chOff x="14139" y="10004"/>
            <a:chExt cx="4652" cy="379"/>
          </a:xfrm>
        </p:grpSpPr>
        <p:pic>
          <p:nvPicPr>
            <p:cNvPr id="9" name="Picture 8" descr="Logo no 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139" y="10049"/>
              <a:ext cx="1165" cy="334"/>
            </a:xfrm>
            <a:prstGeom prst="rect">
              <a:avLst/>
            </a:prstGeom>
          </p:spPr>
        </p:pic>
        <p:pic>
          <p:nvPicPr>
            <p:cNvPr id="2" name="Picture 1" descr="SVV Slogan (Time To Get It Made)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5683" y="10078"/>
              <a:ext cx="3108" cy="243"/>
            </a:xfrm>
            <a:prstGeom prst="rect">
              <a:avLst/>
            </a:prstGeom>
          </p:spPr>
        </p:pic>
        <p:cxnSp>
          <p:nvCxnSpPr>
            <p:cNvPr id="3" name="Straight Connector 2"/>
            <p:cNvCxnSpPr/>
            <p:nvPr/>
          </p:nvCxnSpPr>
          <p:spPr>
            <a:xfrm>
              <a:off x="15478" y="10004"/>
              <a:ext cx="0" cy="376"/>
            </a:xfrm>
            <a:prstGeom prst="line">
              <a:avLst/>
            </a:prstGeom>
            <a:noFill/>
            <a:ln w="12700" cap="flat">
              <a:solidFill>
                <a:srgbClr val="3BC0BC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shot (103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-635"/>
            <a:ext cx="12192635" cy="6858635"/>
          </a:xfrm>
          <a:prstGeom prst="rect">
            <a:avLst/>
          </a:prstGeom>
        </p:spPr>
      </p:pic>
      <p:sp>
        <p:nvSpPr>
          <p:cNvPr id="8" name="Rectangles 7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100000"/>
                </a:srgbClr>
              </a:gs>
              <a:gs pos="100000">
                <a:srgbClr val="44C0BE">
                  <a:alpha val="80000"/>
                </a:srgbClr>
              </a:gs>
            </a:gsLst>
            <a:lin ang="4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4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D4A8849"/>
          <p:cNvPicPr>
            <a:picLocks noChangeAspect="1"/>
          </p:cNvPicPr>
          <p:nvPr userDrawn="1"/>
        </p:nvPicPr>
        <p:blipFill>
          <a:blip r:embed="rId2"/>
          <a:srcRect t="5625" b="10500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pic>
        <p:nvPicPr>
          <p:cNvPr id="7" name="Picture 6" descr="1D4A8750"/>
          <p:cNvPicPr>
            <a:picLocks noChangeAspect="1"/>
          </p:cNvPicPr>
          <p:nvPr userDrawn="1"/>
        </p:nvPicPr>
        <p:blipFill>
          <a:blip r:embed="rId3"/>
          <a:srcRect t="2250" b="13500"/>
          <a:stretch>
            <a:fillRect/>
          </a:stretch>
        </p:blipFill>
        <p:spPr>
          <a:xfrm>
            <a:off x="0" y="10160"/>
            <a:ext cx="12192000" cy="6847840"/>
          </a:xfrm>
          <a:prstGeom prst="rect">
            <a:avLst/>
          </a:prstGeom>
        </p:spPr>
      </p:pic>
      <p:sp>
        <p:nvSpPr>
          <p:cNvPr id="8" name="Rectangles 7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100000"/>
                </a:srgbClr>
              </a:gs>
              <a:gs pos="100000">
                <a:srgbClr val="44C0BE">
                  <a:alpha val="80000"/>
                </a:srgbClr>
              </a:gs>
            </a:gsLst>
            <a:lin ang="205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5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s 7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0">
                <a:srgbClr val="112942">
                  <a:alpha val="100000"/>
                </a:srgbClr>
              </a:gs>
              <a:gs pos="100000">
                <a:srgbClr val="44C0BE">
                  <a:alpha val="80000"/>
                </a:srgbClr>
              </a:gs>
            </a:gsLst>
            <a:lin ang="205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3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s 7"/>
          <p:cNvSpPr/>
          <p:nvPr userDrawn="1"/>
        </p:nvSpPr>
        <p:spPr>
          <a:xfrm>
            <a:off x="635" y="-635"/>
            <a:ext cx="12191365" cy="6858635"/>
          </a:xfrm>
          <a:prstGeom prst="rect">
            <a:avLst/>
          </a:prstGeom>
          <a:gradFill>
            <a:gsLst>
              <a:gs pos="100000">
                <a:srgbClr val="112942">
                  <a:alpha val="100000"/>
                </a:srgbClr>
              </a:gs>
              <a:gs pos="0">
                <a:srgbClr val="44C0BE">
                  <a:alpha val="80000"/>
                </a:srgbClr>
              </a:gs>
            </a:gsLst>
            <a:lin ang="205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8974455" y="6355715"/>
            <a:ext cx="2957830" cy="243840"/>
            <a:chOff x="10951" y="8518"/>
            <a:chExt cx="4658" cy="384"/>
          </a:xfrm>
        </p:grpSpPr>
        <p:pic>
          <p:nvPicPr>
            <p:cNvPr id="10" name="Picture 9" descr="New Logo (White) -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1" y="8543"/>
              <a:ext cx="1171" cy="335"/>
            </a:xfrm>
            <a:prstGeom prst="rect">
              <a:avLst/>
            </a:prstGeom>
          </p:spPr>
        </p:pic>
        <p:pic>
          <p:nvPicPr>
            <p:cNvPr id="11" name="Picture 10" descr="SVV Slogan (Time To Get It Made - White 2)"/>
            <p:cNvPicPr>
              <a:picLocks noChangeAspect="1"/>
            </p:cNvPicPr>
            <p:nvPr/>
          </p:nvPicPr>
          <p:blipFill>
            <a:blip r:embed="rId3"/>
            <a:srcRect b="15000"/>
            <a:stretch>
              <a:fillRect/>
            </a:stretch>
          </p:blipFill>
          <p:spPr>
            <a:xfrm>
              <a:off x="12495" y="8558"/>
              <a:ext cx="3114" cy="306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2300" y="8518"/>
              <a:ext cx="0" cy="3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4389" cy="114300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4389" cy="452596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0008" y="6403500"/>
            <a:ext cx="263981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82320" marR="0" indent="-32512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36725" marR="0" indent="-36512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93925" marR="0" indent="-36512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51125" marR="0" indent="-36512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108325" marR="0" indent="-36512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65525" marR="0" indent="-36512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22725" marR="0" indent="-36512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Power Testing on Linear Generator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08430" y="1413510"/>
            <a:ext cx="10263505" cy="23056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>
                <a:sym typeface="Calibri" panose="020F0502020204030204"/>
              </a:rPr>
              <a:t>Power testing on original linear generator from Gaian and new linear generator made by SVV</a:t>
            </a:r>
            <a:endParaRPr kumimoji="0" lang="en-US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Conclusion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1. So far new generator has around 10mW output per coil,and original generator output is around 2mW, that means total 6 coils on 2 tubes would be around 60mW/12mW.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2. There are still spare space for more turns or bigger tube/magnets for more output power and more weight as well.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3. In order to charge 250mAh/3.7V(925mWh) Li-ion battery in an hour, output power should be around 1085mW(85% efficiency).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Setting up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1825" y="1321435"/>
            <a:ext cx="6539865" cy="49098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2995" y="3973830"/>
            <a:ext cx="2037715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Linear Generator from Gaian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05035" y="3486785"/>
            <a:ext cx="2187575" cy="920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New Linear Generator (0.17mm wire,1350 turns , 60 Ω per coil)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4110" y="5361305"/>
            <a:ext cx="203771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 Resistor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02995" y="4764405"/>
            <a:ext cx="203771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Rectifier Bridge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05035" y="5361305"/>
            <a:ext cx="203771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680uF Capacitor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841230" y="2995295"/>
            <a:ext cx="203771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Tray Plate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719705" y="4295140"/>
            <a:ext cx="1195705" cy="3238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直接箭头连接符 13"/>
          <p:cNvCxnSpPr/>
          <p:nvPr/>
        </p:nvCxnSpPr>
        <p:spPr>
          <a:xfrm>
            <a:off x="2674620" y="4994275"/>
            <a:ext cx="1968500" cy="10985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直接箭头连接符 14"/>
          <p:cNvCxnSpPr/>
          <p:nvPr/>
        </p:nvCxnSpPr>
        <p:spPr>
          <a:xfrm>
            <a:off x="2593340" y="5579745"/>
            <a:ext cx="1212215" cy="4889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直接箭头连接符 15"/>
          <p:cNvCxnSpPr>
            <a:stCxn id="8" idx="1"/>
          </p:cNvCxnSpPr>
          <p:nvPr/>
        </p:nvCxnSpPr>
        <p:spPr>
          <a:xfrm flipH="1">
            <a:off x="7233920" y="3947160"/>
            <a:ext cx="2571115" cy="34099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直接箭头连接符 18"/>
          <p:cNvCxnSpPr>
            <a:stCxn id="12" idx="1"/>
          </p:cNvCxnSpPr>
          <p:nvPr/>
        </p:nvCxnSpPr>
        <p:spPr>
          <a:xfrm flipH="1">
            <a:off x="7907020" y="3178810"/>
            <a:ext cx="1934210" cy="49911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直接箭头连接符 19"/>
          <p:cNvCxnSpPr>
            <a:stCxn id="11" idx="1"/>
          </p:cNvCxnSpPr>
          <p:nvPr/>
        </p:nvCxnSpPr>
        <p:spPr>
          <a:xfrm flipH="1" flipV="1">
            <a:off x="7115175" y="5539105"/>
            <a:ext cx="2689860" cy="571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custDataLst>
      <p:tags r:id="rId2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Assembly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345" y="1238885"/>
            <a:ext cx="7661910" cy="43795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7960" y="1606550"/>
            <a:ext cx="2037715" cy="920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2B representing the end of the middle coil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cxnSp>
        <p:nvCxnSpPr>
          <p:cNvPr id="13" name="直接箭头连接符 12"/>
          <p:cNvCxnSpPr>
            <a:stCxn id="4" idx="3"/>
          </p:cNvCxnSpPr>
          <p:nvPr/>
        </p:nvCxnSpPr>
        <p:spPr>
          <a:xfrm flipV="1">
            <a:off x="2225675" y="1911985"/>
            <a:ext cx="518160" cy="15494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文本框 4"/>
          <p:cNvSpPr txBox="1"/>
          <p:nvPr/>
        </p:nvSpPr>
        <p:spPr>
          <a:xfrm>
            <a:off x="10222865" y="2383155"/>
            <a:ext cx="1757045" cy="17875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4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Ultra low forward voltage drop diode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s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, using the same model as PCB design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ning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8801100" y="3147060"/>
            <a:ext cx="1413510" cy="28194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文本框 9"/>
          <p:cNvSpPr txBox="1"/>
          <p:nvPr/>
        </p:nvSpPr>
        <p:spPr>
          <a:xfrm>
            <a:off x="2743835" y="5756275"/>
            <a:ext cx="718502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Use the middle coil for testing, connecting 2A and 2B to the rectifier bridge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Assembly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27325" y="5796280"/>
            <a:ext cx="673798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Both Generators fixed on the tray plate for synchronized movement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2180" y="1193165"/>
            <a:ext cx="7576820" cy="44761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Power Testing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7300" y="1611630"/>
            <a:ext cx="2412365" cy="1664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65" y="1612265"/>
            <a:ext cx="2413000" cy="1663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045" y="1614170"/>
            <a:ext cx="2412365" cy="1663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730" y="3837940"/>
            <a:ext cx="2408555" cy="16643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4285" y="3837305"/>
            <a:ext cx="2412365" cy="1663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665" y="3837940"/>
            <a:ext cx="2412365" cy="16637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93240" y="3277235"/>
            <a:ext cx="172783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Load=Short(0 Ω)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9650" y="3837305"/>
            <a:ext cx="2409190" cy="1663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9855" y="1611630"/>
            <a:ext cx="2412365" cy="16630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149715" y="5501005"/>
            <a:ext cx="172783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Load=Open(∞ Ω)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27850" y="5501005"/>
            <a:ext cx="125285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Load=800 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25315" y="5501005"/>
            <a:ext cx="125666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Load=600 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22780" y="5502275"/>
            <a:ext cx="125666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Load=400 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96730" y="3275965"/>
            <a:ext cx="121983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Load=200 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57060" y="3274695"/>
            <a:ext cx="121983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Load=100 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67555" y="3277235"/>
            <a:ext cx="112966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Load=50 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46095" y="5930265"/>
            <a:ext cx="5979795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Channel 1(Yellow waveform)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New </a:t>
            </a:r>
            <a:r>
              <a:rPr lang="en-US" altLang="zh-CN">
                <a:sym typeface="Calibri" panose="020F0502020204030204"/>
              </a:rPr>
              <a:t>Linear Generator</a:t>
            </a:r>
            <a:endParaRPr lang="en-US" altLang="zh-CN"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Channel 2(Blue waveform)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：</a:t>
            </a:r>
            <a:r>
              <a:rPr lang="en-US" altLang="zh-CN">
                <a:sym typeface="Calibri" panose="020F0502020204030204"/>
              </a:rPr>
              <a:t>Linear Generator from Gaian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</p:spTree>
    <p:custDataLst>
      <p:tags r:id="rId9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Power Testing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1227455"/>
            <a:ext cx="11515725" cy="4191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635" y="499745"/>
            <a:ext cx="12192635" cy="495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>
              <a:lnSpc>
                <a:spcPct val="110000"/>
              </a:lnSpc>
            </a:pPr>
            <a:r>
              <a:rPr kumimoji="0" lang="en-US" altLang="zh-CN" sz="2400" b="1" i="0" u="none" strike="noStrike" cap="none" spc="14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Conclusion</a:t>
            </a:r>
            <a:endParaRPr kumimoji="0" lang="en-US" altLang="zh-CN" sz="2400" b="1" i="0" u="none" strike="noStrike" cap="none" spc="14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05865" y="1273810"/>
            <a:ext cx="10529570" cy="45218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1. So far new generator has around 10mW output per coil,and original generator output is around 2mW, that means total 6 coils on 2 tubes would be around 60mW/12mW.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2. There are still spare space for more turns or bigger tube/magnets for more output power and more weight as well.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3. </a:t>
            </a:r>
            <a:r>
              <a:rPr lang="en-US">
                <a:ea typeface="宋体" panose="02010600030101010101" pitchFamily="2" charset="-122"/>
                <a:sym typeface="Calibri" panose="020F0502020204030204"/>
              </a:rPr>
              <a:t>In order to charge 250mAh/3.7V(925mWh) Li-ion battery in an hour, output power should be around 1085mW(85% efficiency). </a:t>
            </a:r>
            <a:endParaRPr lang="en-US">
              <a:ea typeface="宋体" panose="02010600030101010101" pitchFamily="2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Notes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: 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1. During testing, tray plate are moved by hand back and forth, not totally same as foot movement, but can be an reference.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2. Magnets arrangment in two generators are same, i.e. NS-NS-NS array, we don’t make NS-SN-NS array.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3. When combine more tubes and coils together, there will be little power lose instead of simplly summed up.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4. I don’t think three phases start or triangle connection of coils is good idea because of out-of-phase difference as I mentioned in email.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宋体" panose="02010600030101010101" pitchFamily="2" charset="-122"/>
                <a:cs typeface="+mj-cs"/>
                <a:sym typeface="Calibri" panose="020F0502020204030204"/>
              </a:rPr>
              <a:t>5. SVV can design PCB board with 6 independent recitifier bridges, Gaian can easily configure connection of 6 bridges to fit their new generator tube and test before sealed in shoes.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</p:spTree>
    <p:custDataLst>
      <p:tags r:id="rId1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2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3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4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5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6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7.xml><?xml version="1.0" encoding="utf-8"?>
<p:tagLst xmlns:p="http://schemas.openxmlformats.org/presentationml/2006/main">
  <p:tag name="KSO_WM_BEAUTIFY_FLAG" val="#wm#"/>
  <p:tag name="KSO_WM_TEMPLATE_CATEGORY" val="diagram"/>
  <p:tag name="KSO_WM_TEMPLATE_INDEX" val="20201241"/>
</p:tagLst>
</file>

<file path=ppt/tags/tag8.xml><?xml version="1.0" encoding="utf-8"?>
<p:tagLst xmlns:p="http://schemas.openxmlformats.org/presentationml/2006/main">
  <p:tag name="KSO_WM_DOC_GUID" val="{9e5450c8-5fc2-4379-a579-93f14c67c70c}"/>
  <p:tag name="COMMONDATA" val="eyJoZGlkIjoiMzQ4OGI5OWYzZjczMWU1ZmIyOWE2ZDMyNzYzM2RmMjQifQ=="/>
  <p:tag name="KSO_WPP_MARK_KEY" val="30188938-fb85-4823-9b6c-5c3608bd52f1"/>
  <p:tag name="commondata" val="eyJoZGlkIjoiOTc0NjJlMzFiZTBhZTk0OWRkOWQyOTgzOThjNDg3OGM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st="23000" dir="5400000" rotWithShape="0">
              <a:srgbClr val="000000">
                <a:alpha val="34999"/>
              </a:srgbClr>
            </a:outerShdw>
          </a:effectLst>
        </a:effectStyle>
        <a:effectStyle>
          <a:effectLst>
            <a:outerShdw dist="23000" dir="5400000" rotWithShape="0">
              <a:srgbClr val="000000">
                <a:alpha val="34999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>
          <a:outerShdw dist="23000" dir="5400000" rotWithShape="0">
            <a:srgbClr val="000000">
              <a:alpha val="34999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st="23000" dir="5400000" rotWithShape="0">
              <a:srgbClr val="000000">
                <a:alpha val="34999"/>
              </a:srgbClr>
            </a:outerShdw>
          </a:effectLst>
        </a:effectStyle>
        <a:effectStyle>
          <a:effectLst>
            <a:outerShdw dist="23000" dir="5400000" rotWithShape="0">
              <a:srgbClr val="000000">
                <a:alpha val="34999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>
          <a:outerShdw dist="23000" dir="5400000" rotWithShape="0">
            <a:srgbClr val="000000">
              <a:alpha val="34999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2248</Words>
  <Application>WPS 演示</Application>
  <PresentationFormat>Widescreen</PresentationFormat>
  <Paragraphs>70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Arial</vt:lpstr>
      <vt:lpstr>微软雅黑</vt:lpstr>
      <vt:lpstr>Open Sans</vt:lpstr>
      <vt:lpstr>Segoe Print</vt:lpstr>
      <vt:lpstr>Arial Unicode MS</vt:lpstr>
      <vt:lpstr>Helvetica</vt:lpstr>
      <vt:lpstr>Calibri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huangnh</dc:creator>
  <cp:lastModifiedBy>Granite An</cp:lastModifiedBy>
  <cp:revision>812</cp:revision>
  <dcterms:created xsi:type="dcterms:W3CDTF">2017-09-11T02:22:00Z</dcterms:created>
  <dcterms:modified xsi:type="dcterms:W3CDTF">2024-06-27T14:53:05Z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55AA7CE2A19C4F8F9F6CF0B299792131_13</vt:lpwstr>
  </property>
  <property fmtid="{D5CDD505-2E9C-101B-9397-08002B2CF9AE}" pid="4" name="commondata">
    <vt:lpwstr>eyJoZGlkIjoiZDZiMjIxOWNlYjRmYjNiNGFmYzU0OWRkYjEyYzQ5YTUifQ==</vt:lpwstr>
  </property>
</Properties>
</file>